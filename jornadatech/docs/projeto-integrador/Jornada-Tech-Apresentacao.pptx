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Chagas (30s): apresentar a equipe, a disciplina e o tema. O Jornada Tech é um projeto real, já publicado em www.jornadatech.app.br, usado aqui para percorrer as etapas de análise e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Chagas (1min30): alunos de ADS entram sem saber as áreas de TI e o que estudar. Perguntar à plateia: quem já sabe exatamente que área vai seguir?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Chagas (1min30): técnicas de levantamento e o que cada uma revelou. Destacar a curadoria de 6 perfis com 9 a 10 competências 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Marcos Vinicios (1min): stakeholders e personas. O usuário direto é o estudante; coordenação, extensão e direção são usuários indiretos que se beneficiam dos dados agregados.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Marcos Vinicios (1min30): necessidades priorizadas por MoSCoW e objetivo geral. Mencionar os indicadores de sucesso: taxa de conclusão, clareza do próximo passo, NPS e aderência das sugestões.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Marcos Vinicios (1min30): 17 requisitos funcionais, 8 não funcionais e 10 regras de negócio. Destacar as regras da jornada (primeiro acesso em ordem; depois edição livre).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(1min): dois atores, Aluno e Serviço de e-mail. 12 casos de uso principais e 4 incluídos, como Calcular compatibilidade e trilha, usado pelo Canvas e pelo painel.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(1min): verde = persistido no Postgres; roxo = catálogo versionado no código; laranja = serviço sem estado. Explicar por que compatibilidade e trilha não são gravadas.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(1min30): explicar gap, urgência e compatibilidade com o exemplo de referência. JavaScript tem gap de 2 níveis, por isso a recomendação é projeto prático.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 (2min): percorrer as telas. Se houver tempo e internet, demonstrar ao vivo com um usuário já preparado; senão, usar estes wireframes.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Chagas (1min): o Next.js é o próprio backend, via Server Actions. Segurança: autorização no servidor e RLS. Definição de pronto: lint, tipos, testes e migrations.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Chagas (1min): mensagem central, próximos passos e abertura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73D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23F45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376"/>
                </a:solidFill>
              </a:rPr>
              <a:t>Jornada Tech · Projeto Integrador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5E3D9"/>
                </a:solidFill>
              </a:rPr>
              <a:t>CENTRO UNIVERSITÁRIO FAMETRO – UNIFAMETRO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E3D9"/>
                </a:solidFill>
              </a:rPr>
              <a:t>Fundamentos em Análise e Projeto de Sistemas · Projeto Integrador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Jornada Tech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6B06A"/>
                </a:solidFill>
              </a:rPr>
              <a:t>Plano de carreira para estudantes de tecnologia: mapear competências, área de atuação e metas profissionais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54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Francisco das Chagas Barros da Silva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Marcos Vinicios Moreira Esmero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Matheus da Silva Alexandre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C5E3D9"/>
                </a:solidFill>
              </a:rPr>
              <a:t>Professor: César Viana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rgbClr val="C5E3D9"/>
                </a:solidFill>
              </a:rPr>
              <a:t>Fortaleza – CE · 2026.2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O problema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6035040" cy="2103120"/>
          </a:xfrm>
          <a:prstGeom prst="roundRect">
            <a:avLst>
              <a:gd name="adj" fmla="val 5217"/>
            </a:avLst>
          </a:prstGeom>
          <a:solidFill>
            <a:srgbClr val="FEF3EC"/>
          </a:solidFill>
          <a:ln w="12700">
            <a:solidFill>
              <a:srgbClr val="FEF3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23F45"/>
                </a:solidFill>
              </a:rPr>
              <a:t>Alunos de ADS, sobretudo dos semestres iniciais, avançam no curso sem saber quais áreas existem em TI, o que cada uma exige, o que já sabem e o que precisam desenvolver.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040880" y="1371600"/>
            <a:ext cx="502920" cy="50292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Estudo sem direção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664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tenta aprender tudo ao mesmo tempo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040880" y="2560320"/>
            <a:ext cx="502920" cy="50292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Portfólio adiado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852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não sabe que projeto construir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40880" y="3749040"/>
            <a:ext cx="502920" cy="50292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408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Disciplinas desconectadas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não vê a relação com a carreira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40880" y="4937760"/>
            <a:ext cx="502920" cy="502920"/>
          </a:xfrm>
          <a:prstGeom prst="ellipse">
            <a:avLst/>
          </a:prstGeom>
          <a:solidFill>
            <a:srgbClr val="F58E52"/>
          </a:solidFill>
          <a:ln w="12700">
            <a:solidFill>
              <a:srgbClr val="F58E5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Insegurança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726680" y="5230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afeta motivação e o 1º estágio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657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4165"/>
                </a:solidFill>
              </a:rPr>
              <a:t>Por que um sistema? Alcança muitos alunos, guarda o plano para revisão e gera dados agregados para a coordenação.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Investigação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A48"/>
                </a:solidFill>
              </a:rPr>
              <a:t>Rodas de diálogo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Insegurança recorrente sobre carreira e competências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29000" y="12801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A48"/>
                </a:solidFill>
              </a:rPr>
              <a:t>Questionário diagnóstico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Objetivos, áreas conhecidas e dificuldades de planejamento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A48"/>
                </a:solidFill>
              </a:rPr>
              <a:t>Pesquisa bibliográfica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Super (autoconhecimento) e Schein (âncoras de carreira)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29000" y="310896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18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A48"/>
                </a:solidFill>
              </a:rPr>
              <a:t>Análise de vagas e do BMC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Canvas de 10 blocos e catálogo de competências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1280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F45"/>
                </a:solidFill>
              </a:rPr>
              <a:t>Curadoria: 6 perfis de estágio/júnior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583680" y="182880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F3F0F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Desenvolvimento de Software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424160" y="18288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10 comp.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83680" y="233172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EEF4F1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Analista de Sistemas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424160" y="2331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10 comp.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83680" y="283464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F3F0F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Gestão de Projetos em TI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424160" y="28346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9 comp.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83680" y="333756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EEF4F1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3337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Infraestrutura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424160" y="33375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10 comp.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83680" y="384048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F3F0F8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6656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Segurança da Informação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0424160" y="38404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10 comp.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583680" y="434340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EEF4F1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76656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QA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0424160" y="43434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10 comp.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4165"/>
                </a:solidFill>
              </a:rPr>
              <a:t>Achado-chave: saber a lacuna não basta, o aluno precisa de uma ordem de prioridade e de uma ação para cada lacuna.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Usuários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2633472" cy="3291840"/>
          </a:xfrm>
          <a:prstGeom prst="roundRect">
            <a:avLst>
              <a:gd name="adj" fmla="val 41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45336" y="1554480"/>
            <a:ext cx="640080" cy="64008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2331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45"/>
                </a:solidFill>
              </a:rPr>
              <a:t>Ana, 19 · 1º sem.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8E52"/>
                </a:solidFill>
              </a:rPr>
              <a:t>Dor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Não conhece as áreas de TI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A48"/>
                </a:solidFill>
              </a:rPr>
              <a:t>Precisa de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Precisa de escolha guiada e uma 1ª ação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64992" y="1325880"/>
            <a:ext cx="2633472" cy="3291840"/>
          </a:xfrm>
          <a:prstGeom prst="roundRect">
            <a:avLst>
              <a:gd name="adj" fmla="val 41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61688" y="1554480"/>
            <a:ext cx="640080" cy="64008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02152" y="2331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45"/>
                </a:solidFill>
              </a:rPr>
              <a:t>Lucas, 24 · 2º sem.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47872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8E52"/>
                </a:solidFill>
              </a:rPr>
              <a:t>Dor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547872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Quer migrar do comércio para TI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47872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A48"/>
                </a:solidFill>
              </a:rPr>
              <a:t>Precisa de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47872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Precisa saber o quanto já atende ao perfil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81344" y="1325880"/>
            <a:ext cx="2633472" cy="3291840"/>
          </a:xfrm>
          <a:prstGeom prst="roundRect">
            <a:avLst>
              <a:gd name="adj" fmla="val 416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18504" y="2331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45"/>
                </a:solidFill>
              </a:rPr>
              <a:t>Carla, 22 · 4º sem.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64224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8E52"/>
                </a:solidFill>
              </a:rPr>
              <a:t>Dor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64224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Quer trocar de área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364224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A48"/>
                </a:solidFill>
              </a:rPr>
              <a:t>Precisa de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364224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Precisa comparar sem perder o plano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997696" y="1325880"/>
            <a:ext cx="2633472" cy="3291840"/>
          </a:xfrm>
          <a:prstGeom prst="roundRect">
            <a:avLst>
              <a:gd name="adj" fmla="val 4167"/>
            </a:avLst>
          </a:prstGeom>
          <a:solidFill>
            <a:srgbClr val="F3F0F8"/>
          </a:solidFill>
          <a:ln w="12700">
            <a:solidFill>
              <a:srgbClr val="F3F0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994392" y="1554480"/>
            <a:ext cx="640080" cy="640080"/>
          </a:xfrm>
          <a:prstGeom prst="ellipse">
            <a:avLst/>
          </a:prstGeom>
          <a:solidFill>
            <a:srgbClr val="4A4165"/>
          </a:solidFill>
          <a:ln w="12700">
            <a:solidFill>
              <a:srgbClr val="4A416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34856" y="23317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45"/>
                </a:solidFill>
              </a:rPr>
              <a:t>Coordenação de ADS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80576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8E52"/>
                </a:solidFill>
              </a:rPr>
              <a:t>Dor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180576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Sem dados das turmas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180576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A48"/>
                </a:solidFill>
              </a:rPr>
              <a:t>Precisa de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180576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Precisa de relatórios agregados e anônimos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7376"/>
                </a:solidFill>
              </a:rPr>
              <a:t>Perfil principal: estudantes de tecnologia da UNIFAMETRO (foco em ADS, 1º ao 5º semestre), muitos buscando o primeiro estágio, com pouco conhecimento técnico prévio e acesso principalmente pelo celular.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Necessidades e objetivos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258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Must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920240" y="1371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Conhecer as áreas · avaliar competências com critérios claros · saber a compatibilidade · saber o que priorizar · metas com prazo · plano salvo · acesso sem senha · LGPD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4A4165"/>
          </a:solidFill>
          <a:ln w="12700">
            <a:solidFill>
              <a:srgbClr val="4A416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688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Should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514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Registrar quem é e o que o motiva · Canvas visual imprimível · medir satisfação e impacto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1188720" cy="960120"/>
          </a:xfrm>
          <a:prstGeom prst="roundRect">
            <a:avLst>
              <a:gd name="adj" fmla="val 9524"/>
            </a:avLst>
          </a:prstGeom>
          <a:solidFill>
            <a:srgbClr val="F58E52"/>
          </a:solidFill>
          <a:ln w="12700">
            <a:solidFill>
              <a:srgbClr val="F58E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6118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Could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F45"/>
                </a:solidFill>
              </a:rPr>
              <a:t>Dados agregados para a coordenação · motivar a conclusão (sorteio)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132588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073D35"/>
          </a:solidFill>
          <a:ln w="12700">
            <a:solidFill>
              <a:srgbClr val="073D3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6B06A"/>
                </a:solidFill>
              </a:rPr>
              <a:t>Objetivo geral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92024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Um sistema web que guie o estudante na construção do plano de carreira e entregue um Canvas de Carreira e um plano de ação salvos, com as competências priorizadas por um algoritmo de lacunas.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Indicadores: taxa de conclusão · funil por etapa · clareza do próximo passo (1–5) · satisfação e NPS · aderência das sugestões · metas concluídas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Requisitos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32588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17 requisitos funcionais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Login por código no e-mail, sem senha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Jornada em 5 etapas guiadas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Compatibilidade e trilha de 5 competências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Canvas pré-preenchido e metas sugeridas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Painel com Canvas imprimível e metas marcáveis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Questionário de fechamento e sorteio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97680" y="132588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4A4165"/>
          </a:solidFill>
          <a:ln w="12700">
            <a:solidFill>
              <a:srgbClr val="4A416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8 não funcionais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1488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Linguagem simples e responsivo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Autorização sempre no servidor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RLS sem policies no banco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LGPD: só o e-mail como dado pessoal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Mesma validação no cliente e no servidor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13258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0" y="1325880"/>
            <a:ext cx="3566160" cy="640080"/>
          </a:xfrm>
          <a:prstGeom prst="roundRect">
            <a:avLst>
              <a:gd name="adj" fmla="val 17143"/>
            </a:avLst>
          </a:prstGeom>
          <a:solidFill>
            <a:srgbClr val="F58E52"/>
          </a:solidFill>
          <a:ln w="12700">
            <a:solidFill>
              <a:srgbClr val="F58E5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1325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regras de negócio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14884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1º acesso: etapas em ordem, sem pular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Após concluir: edita qualquer etapa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Nota ausente conta como 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Trilha: top 5 por urgência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F45"/>
                </a:solidFill>
              </a:rPr>
              <a:t>Recomendação pelo gap em níveis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Modelagem: casos de uso</a:t>
            </a:r>
            <a:endParaRPr lang="en-US" sz="3200" dirty="0"/>
          </a:p>
        </p:txBody>
      </p:sp>
      <p:pic>
        <p:nvPicPr>
          <p:cNvPr id="4" name="Image 0" descr="img/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15584" cy="5074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76656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5A48"/>
                </a:solidFill>
              </a:rPr>
              <a:t>Atores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76656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F45"/>
                </a:solidFill>
              </a:rPr>
              <a:t>Aluno: percorre a jornada e acompanha o plano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F45"/>
                </a:solidFill>
              </a:rPr>
              <a:t>Serviço de e-mail: envia o código de acesso e o do sorteio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5A48"/>
                </a:solidFill>
              </a:rPr>
              <a:t>Fluxo central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3657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F45"/>
                </a:solidFill>
              </a:rPr>
              <a:t>Entrar → Quem sou eu → Área → Autoavaliação → Canvas → Plano de ação → Concluir (questionário + sorteio) → Painel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5029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7376"/>
                </a:solidFill>
              </a:rPr>
              <a:t>«include»: comportamento reaproveitado por mais de um caso de uso.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Modelagem: diagrama de classes</a:t>
            </a:r>
            <a:endParaRPr lang="en-US" sz="3200" dirty="0"/>
          </a:p>
        </p:txBody>
      </p:sp>
      <p:pic>
        <p:nvPicPr>
          <p:cNvPr id="4" name="Image 0" descr="img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550408" cy="5120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92240" y="1371600"/>
            <a:ext cx="502920" cy="50292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92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178040" y="12801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Catálogo no código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178040" y="1691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Perfis e competências versionados e testados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92240" y="2560320"/>
            <a:ext cx="502920" cy="502920"/>
          </a:xfrm>
          <a:prstGeom prst="ellipse">
            <a:avLst/>
          </a:prstGeom>
          <a:solidFill>
            <a:srgbClr val="4A4165"/>
          </a:solidFill>
          <a:ln w="12700">
            <a:solidFill>
              <a:srgbClr val="4A416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92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178040" y="24688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Nota por competência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2880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Avaliada uma vez, vale para todas as áreas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92240" y="3749040"/>
            <a:ext cx="502920" cy="502920"/>
          </a:xfrm>
          <a:prstGeom prst="ellipse">
            <a:avLst/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3657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Resultado recalculado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4069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Compatibilidade e trilha não são gravadas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92240" y="4937760"/>
            <a:ext cx="502920" cy="502920"/>
          </a:xfrm>
          <a:prstGeom prst="ellipse">
            <a:avLst/>
          </a:prstGeom>
          <a:solidFill>
            <a:srgbClr val="4A4165"/>
          </a:solidFill>
          <a:ln w="12700">
            <a:solidFill>
              <a:srgbClr val="4A416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922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178040" y="48463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F45"/>
                </a:solidFill>
              </a:rPr>
              <a:t>Sugestão ≠ escolha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5257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Nova autoavaliação não apaga a lista do aluno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Algoritmo de análise de lacunas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2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max(0, m − a)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2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urgência = (gap / m) × w × 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23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compat. = 100 × Σ w × min(a/m, 1)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376"/>
                </a:solidFill>
              </a:rPr>
              <a:t>w = peso · m = nível mínimo · d = prioridade de mercado · a = nota do aluno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23F45"/>
                </a:solidFill>
              </a:rPr>
              <a:t>Gap ≥ 3 → curso estruturado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23F45"/>
                </a:solidFill>
              </a:rPr>
              <a:t>Gap 2 → projeto prático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23F45"/>
                </a:solidFill>
              </a:rPr>
              <a:t>Gap 1 → prática dirigida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548640"/>
                <a:gridCol w="548640"/>
                <a:gridCol w="548640"/>
                <a:gridCol w="1417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Competência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urgência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HTML/CSS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0,20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0,10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JavaScript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0,50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0,75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Comunicação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0,30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F45"/>
                          </a:solidFill>
                        </a:rPr>
                        <a:t>0,00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1264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B5A48"/>
                </a:solidFill>
              </a:rPr>
              <a:t>70%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376"/>
                </a:solidFill>
              </a:rPr>
              <a:t>compatibilidade com o perfil Front-end Jr. do exemplo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4480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F45"/>
                </a:solidFill>
              </a:rPr>
              <a:t>Trilha: 1º JavaScript, 2º HTML/CSS. Comunicação fica fora, pois já atinge o mínimo.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Protótipo</a:t>
            </a:r>
            <a:endParaRPr lang="en-US" sz="3200" dirty="0"/>
          </a:p>
        </p:txBody>
      </p:sp>
      <p:pic>
        <p:nvPicPr>
          <p:cNvPr id="4" name="Image 0" descr="img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737360" cy="206311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43471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F45"/>
                </a:solidFill>
              </a:rPr>
              <a:t>1. Quem sou eu</a:t>
            </a:r>
            <a:endParaRPr lang="en-US" sz="1300" dirty="0"/>
          </a:p>
        </p:txBody>
      </p:sp>
      <p:pic>
        <p:nvPicPr>
          <p:cNvPr id="6" name="Image 1" descr="img/s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280160"/>
            <a:ext cx="1737360" cy="206311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432304" y="343471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F45"/>
                </a:solidFill>
              </a:rPr>
              <a:t>2. Área</a:t>
            </a:r>
            <a:endParaRPr lang="en-US" sz="1300" dirty="0"/>
          </a:p>
        </p:txBody>
      </p:sp>
      <p:pic>
        <p:nvPicPr>
          <p:cNvPr id="8" name="Image 2" descr="img/s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280160"/>
            <a:ext cx="1737360" cy="206311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315968" y="343471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F45"/>
                </a:solidFill>
              </a:rPr>
              <a:t>3. Autoavaliação</a:t>
            </a:r>
            <a:endParaRPr lang="en-US" sz="1300" dirty="0"/>
          </a:p>
        </p:txBody>
      </p:sp>
      <p:pic>
        <p:nvPicPr>
          <p:cNvPr id="10" name="Image 3" descr="img/s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280160"/>
            <a:ext cx="1737360" cy="206311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6199632" y="343471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F45"/>
                </a:solidFill>
              </a:rPr>
              <a:t>4. Resultado e Canvas</a:t>
            </a:r>
            <a:endParaRPr lang="en-US" sz="1300" dirty="0"/>
          </a:p>
        </p:txBody>
      </p:sp>
      <p:pic>
        <p:nvPicPr>
          <p:cNvPr id="12" name="Image 4" descr="img/s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1280160"/>
            <a:ext cx="1737360" cy="206311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8083296" y="343471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F45"/>
                </a:solidFill>
              </a:rPr>
              <a:t>5. Plano de ação</a:t>
            </a:r>
            <a:endParaRPr lang="en-US" sz="1300" dirty="0"/>
          </a:p>
        </p:txBody>
      </p:sp>
      <p:pic>
        <p:nvPicPr>
          <p:cNvPr id="14" name="Image 5" descr="img/s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1280160"/>
            <a:ext cx="1737360" cy="2063115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966960" y="3434715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F45"/>
                </a:solidFill>
              </a:rPr>
              <a:t>6. Painel</a:t>
            </a:r>
            <a:endParaRPr lang="en-US" sz="1300" dirty="0"/>
          </a:p>
        </p:txBody>
      </p:sp>
      <p:sp>
        <p:nvSpPr>
          <p:cNvPr id="16" name="Text 7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3F45"/>
                </a:solidFill>
              </a:rPr>
              <a:t>Login sem senha (código de 6 dígitos) → 5 etapas com barra de progresso → painel com o Canvas de 10 blocos, metas marcáveis e impressão em A4.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8E52"/>
                </a:solidFill>
              </a:rPr>
              <a:t>www.jornadatech.app.br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3F45"/>
                </a:solidFill>
              </a:rPr>
              <a:t>Documentação e arquitetura</a:t>
            </a:r>
            <a:endParaRPr lang="en-US" sz="3200" dirty="0"/>
          </a:p>
        </p:txBody>
      </p:sp>
      <p:pic>
        <p:nvPicPr>
          <p:cNvPr id="4" name="Image 0" descr="img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247802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4023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A48"/>
                </a:solidFill>
              </a:rPr>
              <a:t>Stack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572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Next.js 16, React 19, TypeScript, Prisma 7, Supabase, Zod, Tailwind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297680" y="4023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A48"/>
                </a:solidFill>
              </a:rPr>
              <a:t>Segurança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4572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requireUser() em toda ação, dados filtrados pelo usuário, RLS, LGPD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46720" y="4023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EF4F1"/>
          </a:solidFill>
          <a:ln w="12700">
            <a:solidFill>
              <a:srgbClr val="EEF4F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A48"/>
                </a:solidFill>
              </a:rPr>
              <a:t>Qualidade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45720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F45"/>
                </a:solidFill>
              </a:rPr>
              <a:t>Lint, checagem de tipos, Vitest e Playwright antes de cada entrega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3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Conclusão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6B06A"/>
                </a:solidFill>
              </a:rPr>
              <a:t>Uma dúvida comum, qual carreira seguir em TI e por onde começar, vira um plano concreto: área-alvo, compatibilidade, 5 competências priorizadas e metas com prazo e indicador.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Validar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886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5E3D9"/>
                </a:solidFill>
              </a:rPr>
              <a:t>analisar o feedback das ações de extensão e ajustar o protótipo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32004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Devolver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886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5E3D9"/>
                </a:solidFill>
              </a:rPr>
              <a:t>relatório agregado e anônimo para a coordenação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32004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0B5A48"/>
          </a:solidFill>
          <a:ln w="12700">
            <a:solidFill>
              <a:srgbClr val="0B5A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Evoluir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3886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5E3D9"/>
                </a:solidFill>
              </a:rPr>
              <a:t>histórico de autoavaliações, vários perfis, painel do orientador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Obrigado! Perguntas?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Tech – Projeto Integrador</dc:title>
  <dc:subject>PptxGenJS Presentation</dc:subject>
  <dc:creator>Francisco das Chagas Barros da Silva, Marcos Vinicios Moreira Esmero, Matheus da Silva Alexandre</dc:creator>
  <cp:lastModifiedBy>Francisco das Chagas Barros da Silva, Marcos Vinicios Moreira Esmero, Matheus da Silva Alexandre</cp:lastModifiedBy>
  <cp:revision>1</cp:revision>
  <dcterms:created xsi:type="dcterms:W3CDTF">2026-10-04T14:37:50Z</dcterms:created>
  <dcterms:modified xsi:type="dcterms:W3CDTF">2026-10-04T14:37:50Z</dcterms:modified>
</cp:coreProperties>
</file>